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887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014" autoAdjust="0"/>
    <p:restoredTop sz="94660"/>
  </p:normalViewPr>
  <p:slideViewPr>
    <p:cSldViewPr snapToGrid="0">
      <p:cViewPr>
        <p:scale>
          <a:sx n="38" d="100"/>
          <a:sy n="38" d="100"/>
        </p:scale>
        <p:origin x="216" y="12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32" name="Straight Connector 31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4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Isosceles Triangle 26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0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1" name="Isosceles Triangle 30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Isosceles Triangle 18"/>
            <p:cNvSpPr/>
            <p:nvPr/>
          </p:nvSpPr>
          <p:spPr>
            <a:xfrm rot="10800000">
              <a:off x="0" y="0"/>
              <a:ext cx="842596" cy="5666154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07067" y="2404534"/>
            <a:ext cx="7766936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7067" y="4050833"/>
            <a:ext cx="7766936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C1BC01-CA5C-44B5-B7F0-38042D3DC8B7}" type="datetimeFigureOut">
              <a:rPr lang="en-US" smtClean="0"/>
              <a:t>4/30/2026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D90F57-103E-4034-9F93-D3EE46C951EB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0876979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C1BC01-CA5C-44B5-B7F0-38042D3DC8B7}" type="datetimeFigureOut">
              <a:rPr lang="en-US" smtClean="0"/>
              <a:t>4/30/2026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D90F57-103E-4034-9F93-D3EE46C951EB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734244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2700867"/>
            <a:ext cx="8596668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C1BC01-CA5C-44B5-B7F0-38042D3DC8B7}" type="datetimeFigureOut">
              <a:rPr lang="en-US" smtClean="0"/>
              <a:t>4/30/2026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D90F57-103E-4034-9F93-D3EE46C951EB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6819995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77334" y="2160589"/>
            <a:ext cx="4184035" cy="3880772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89970" y="2160589"/>
            <a:ext cx="4184034" cy="3880773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C1BC01-CA5C-44B5-B7F0-38042D3DC8B7}" type="datetimeFigureOut">
              <a:rPr lang="en-US" smtClean="0"/>
              <a:t>4/30/2026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D90F57-103E-4034-9F93-D3EE46C951EB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6837028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745" y="2160983"/>
            <a:ext cx="418562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5745" y="2737245"/>
            <a:ext cx="4185623" cy="3304117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88383" y="2160983"/>
            <a:ext cx="418561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88384" y="2737245"/>
            <a:ext cx="4185617" cy="3304117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C1BC01-CA5C-44B5-B7F0-38042D3DC8B7}" type="datetimeFigureOut">
              <a:rPr lang="en-US" smtClean="0"/>
              <a:t>4/30/2026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D90F57-103E-4034-9F93-D3EE46C951EB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9467081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C1BC01-CA5C-44B5-B7F0-38042D3DC8B7}" type="datetimeFigureOut">
              <a:rPr lang="en-US" smtClean="0"/>
              <a:t>4/30/2026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D90F57-103E-4034-9F93-D3EE46C951EB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5618185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C1BC01-CA5C-44B5-B7F0-38042D3DC8B7}" type="datetimeFigureOut">
              <a:rPr lang="en-US" smtClean="0"/>
              <a:t>4/30/2026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D90F57-103E-4034-9F93-D3EE46C951EB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7386387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1498604"/>
            <a:ext cx="3854528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0461" y="514924"/>
            <a:ext cx="4513541" cy="5526437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2777069"/>
            <a:ext cx="3854528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063" indent="0">
              <a:buNone/>
              <a:defRPr sz="1400"/>
            </a:lvl2pPr>
            <a:lvl3pPr marL="914126" indent="0">
              <a:buNone/>
              <a:defRPr sz="1200"/>
            </a:lvl3pPr>
            <a:lvl4pPr marL="1371189" indent="0">
              <a:buNone/>
              <a:defRPr sz="1000"/>
            </a:lvl4pPr>
            <a:lvl5pPr marL="1828251" indent="0">
              <a:buNone/>
              <a:defRPr sz="1000"/>
            </a:lvl5pPr>
            <a:lvl6pPr marL="2285314" indent="0">
              <a:buNone/>
              <a:defRPr sz="1000"/>
            </a:lvl6pPr>
            <a:lvl7pPr marL="2742377" indent="0">
              <a:buNone/>
              <a:defRPr sz="1000"/>
            </a:lvl7pPr>
            <a:lvl8pPr marL="3199440" indent="0">
              <a:buNone/>
              <a:defRPr sz="1000"/>
            </a:lvl8pPr>
            <a:lvl9pPr marL="3656503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C1BC01-CA5C-44B5-B7F0-38042D3DC8B7}" type="datetimeFigureOut">
              <a:rPr lang="en-US" smtClean="0"/>
              <a:t>4/30/2026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D90F57-103E-4034-9F93-D3EE46C951EB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9119931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4800600"/>
            <a:ext cx="859666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77334" y="609600"/>
            <a:ext cx="8596668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5367338"/>
            <a:ext cx="8596667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C1BC01-CA5C-44B5-B7F0-38042D3DC8B7}" type="datetimeFigureOut">
              <a:rPr lang="en-US" smtClean="0"/>
              <a:t>4/30/2026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D90F57-103E-4034-9F93-D3EE46C951EB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460455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609600"/>
            <a:ext cx="8596668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C1BC01-CA5C-44B5-B7F0-38042D3DC8B7}" type="datetimeFigureOut">
              <a:rPr lang="en-US" smtClean="0"/>
              <a:t>4/30/2026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D90F57-103E-4034-9F93-D3EE46C951EB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6402406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366139" y="3632200"/>
            <a:ext cx="722452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C1BC01-CA5C-44B5-B7F0-38042D3DC8B7}" type="datetimeFigureOut">
              <a:rPr lang="en-US" smtClean="0"/>
              <a:t>4/30/2026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D90F57-103E-4034-9F93-D3EE46C951EB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20" name="TextBox 19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</a:rPr>
              <a:t>”</a:t>
            </a:r>
            <a:endParaRPr lang="en-US" dirty="0">
              <a:solidFill>
                <a:schemeClr val="accent1">
                  <a:lumMod val="60000"/>
                  <a:lumOff val="40000"/>
                </a:schemeClr>
              </a:solidFill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43809391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1931988"/>
            <a:ext cx="8596668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C1BC01-CA5C-44B5-B7F0-38042D3DC8B7}" type="datetimeFigureOut">
              <a:rPr lang="en-US" smtClean="0"/>
              <a:t>4/30/2026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D90F57-103E-4034-9F93-D3EE46C951EB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69816573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C1BC01-CA5C-44B5-B7F0-38042D3DC8B7}" type="datetimeFigureOut">
              <a:rPr lang="en-US" smtClean="0"/>
              <a:t>4/30/2026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D90F57-103E-4034-9F93-D3EE46C951EB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1158678751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99" y="609600"/>
            <a:ext cx="8588203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C1BC01-CA5C-44B5-B7F0-38042D3DC8B7}" type="datetimeFigureOut">
              <a:rPr lang="en-US" smtClean="0"/>
              <a:t>4/30/2026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D90F57-103E-4034-9F93-D3EE46C951EB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77388553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C1BC01-CA5C-44B5-B7F0-38042D3DC8B7}" type="datetimeFigureOut">
              <a:rPr lang="en-US" smtClean="0"/>
              <a:t>4/30/2026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D90F57-103E-4034-9F93-D3EE46C951EB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0607779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967673" y="609599"/>
            <a:ext cx="1304743" cy="5251451"/>
          </a:xfrm>
        </p:spPr>
        <p:txBody>
          <a:bodyPr vert="eaVert" anchor="ctr"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77335" y="609600"/>
            <a:ext cx="7060150" cy="5251450"/>
          </a:xfrm>
        </p:spPr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C1BC01-CA5C-44B5-B7F0-38042D3DC8B7}" type="datetimeFigureOut">
              <a:rPr lang="en-US" smtClean="0"/>
              <a:t>4/30/2026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D90F57-103E-4034-9F93-D3EE46C951EB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5214724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20" name="Straight Connector 19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Isosceles Triangle 23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Isosceles Triangle 27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Isosceles Triangle 28"/>
            <p:cNvSpPr/>
            <p:nvPr/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4" y="2160589"/>
            <a:ext cx="8596668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DC1BC01-CA5C-44B5-B7F0-38042D3DC8B7}" type="datetimeFigureOut">
              <a:rPr lang="en-US" smtClean="0"/>
              <a:t>4/30/2026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fld id="{F8D90F57-103E-4034-9F93-D3EE46C951EB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0236799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88" r:id="rId1"/>
    <p:sldLayoutId id="2147483889" r:id="rId2"/>
    <p:sldLayoutId id="2147483890" r:id="rId3"/>
    <p:sldLayoutId id="2147483891" r:id="rId4"/>
    <p:sldLayoutId id="2147483892" r:id="rId5"/>
    <p:sldLayoutId id="2147483893" r:id="rId6"/>
    <p:sldLayoutId id="2147483894" r:id="rId7"/>
    <p:sldLayoutId id="2147483895" r:id="rId8"/>
    <p:sldLayoutId id="2147483896" r:id="rId9"/>
    <p:sldLayoutId id="2147483897" r:id="rId10"/>
    <p:sldLayoutId id="2147483898" r:id="rId11"/>
    <p:sldLayoutId id="2147483899" r:id="rId12"/>
    <p:sldLayoutId id="2147483900" r:id="rId13"/>
    <p:sldLayoutId id="2147483901" r:id="rId14"/>
    <p:sldLayoutId id="2147483902" r:id="rId15"/>
    <p:sldLayoutId id="2147483903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hyperlink" Target="http://codealpha.tech-login.ru/" TargetMode="External"/><Relationship Id="rId2" Type="http://schemas.openxmlformats.org/officeDocument/2006/relationships/hyperlink" Target="mailto:codealpha.tech-support@x9f.biz" TargetMode="Externa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hyperlink" Target="http://www.codealpha.tech.login.verify.com/" TargetMode="External"/><Relationship Id="rId2" Type="http://schemas.openxmlformats.org/officeDocument/2006/relationships/hyperlink" Target="http://www.codealpha.tk/" TargetMode="Externa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07067" y="677334"/>
            <a:ext cx="7766936" cy="2286000"/>
          </a:xfrm>
        </p:spPr>
        <p:txBody>
          <a:bodyPr>
            <a:normAutofit/>
          </a:bodyPr>
          <a:lstStyle/>
          <a:p>
            <a:r>
              <a:rPr lang="en-US" b="1" dirty="0" smtClean="0"/>
              <a:t>Phishing Awareness Training</a:t>
            </a:r>
            <a:endParaRPr lang="en-US" b="1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7067" y="4050833"/>
            <a:ext cx="7766936" cy="1791167"/>
          </a:xfrm>
        </p:spPr>
        <p:txBody>
          <a:bodyPr>
            <a:normAutofit/>
          </a:bodyPr>
          <a:lstStyle/>
          <a:p>
            <a:pPr algn="l"/>
            <a:r>
              <a:rPr lang="en-US" sz="2800" b="1" dirty="0"/>
              <a:t>Don’t Take the Bait  </a:t>
            </a:r>
          </a:p>
          <a:p>
            <a:pPr algn="l"/>
            <a:r>
              <a:rPr lang="en-US" sz="2800" b="1" dirty="0"/>
              <a:t>Your role: First line of defense against cyber attacks</a:t>
            </a:r>
          </a:p>
          <a:p>
            <a:endParaRPr lang="en-US" sz="2800" b="1" dirty="0"/>
          </a:p>
        </p:txBody>
      </p:sp>
    </p:spTree>
    <p:extLst>
      <p:ext uri="{BB962C8B-B14F-4D97-AF65-F5344CB8AC3E}">
        <p14:creationId xmlns:p14="http://schemas.microsoft.com/office/powerpoint/2010/main" val="279864865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07067" y="1422400"/>
            <a:ext cx="7766936" cy="1083733"/>
          </a:xfrm>
        </p:spPr>
        <p:txBody>
          <a:bodyPr/>
          <a:lstStyle/>
          <a:p>
            <a:r>
              <a:rPr lang="en-US" b="1" dirty="0" smtClean="0"/>
              <a:t>What is Phishing?</a:t>
            </a:r>
            <a:endParaRPr lang="en-US" b="1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63600" y="2861733"/>
            <a:ext cx="8661400" cy="3606800"/>
          </a:xfrm>
        </p:spPr>
        <p:txBody>
          <a:bodyPr>
            <a:noAutofit/>
          </a:bodyPr>
          <a:lstStyle/>
          <a:p>
            <a:pPr algn="l"/>
            <a:r>
              <a:rPr lang="en-US" sz="2400" b="1" dirty="0" smtClean="0"/>
              <a:t>Phishing is  Cybercriminals pretending to be someone you trust to steal your data.  </a:t>
            </a:r>
          </a:p>
          <a:p>
            <a:pPr algn="l"/>
            <a:r>
              <a:rPr lang="en-US" sz="2400" b="1" dirty="0" smtClean="0"/>
              <a:t>Goal: Passwords, bank details, personal info, company access  </a:t>
            </a:r>
          </a:p>
          <a:p>
            <a:pPr algn="l"/>
            <a:r>
              <a:rPr lang="en-US" sz="2400" b="1" dirty="0" smtClean="0"/>
              <a:t>How: Email, SMS “</a:t>
            </a:r>
            <a:r>
              <a:rPr lang="en-US" sz="2400" b="1" dirty="0" err="1" smtClean="0"/>
              <a:t>Smishing</a:t>
            </a:r>
            <a:r>
              <a:rPr lang="en-US" sz="2400" b="1" dirty="0" smtClean="0"/>
              <a:t>”, fake websites, phone calls “Vishing”  </a:t>
            </a:r>
          </a:p>
          <a:p>
            <a:pPr algn="l"/>
            <a:r>
              <a:rPr lang="en-US" sz="2400" b="1" dirty="0" smtClean="0"/>
              <a:t>Stat: 90% of cyber attacks start with a phishing email</a:t>
            </a:r>
            <a:endParaRPr lang="en-US" sz="2400" b="1" dirty="0"/>
          </a:p>
        </p:txBody>
      </p:sp>
    </p:spTree>
    <p:extLst>
      <p:ext uri="{BB962C8B-B14F-4D97-AF65-F5344CB8AC3E}">
        <p14:creationId xmlns:p14="http://schemas.microsoft.com/office/powerpoint/2010/main" val="161793958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ctrTitle"/>
          </p:nvPr>
        </p:nvSpPr>
        <p:spPr>
          <a:xfrm>
            <a:off x="1202267" y="186267"/>
            <a:ext cx="8483600" cy="1557866"/>
          </a:xfrm>
        </p:spPr>
        <p:txBody>
          <a:bodyPr>
            <a:normAutofit fontScale="90000"/>
          </a:bodyPr>
          <a:lstStyle/>
          <a:p>
            <a:pPr algn="l"/>
            <a:r>
              <a:rPr lang="en-US" b="1" dirty="0" smtClean="0"/>
              <a:t>How to Recognize Phishing Emails - 7 Red Flags</a:t>
            </a:r>
            <a:endParaRPr lang="en-US" b="1" dirty="0"/>
          </a:p>
        </p:txBody>
      </p:sp>
      <p:sp>
        <p:nvSpPr>
          <p:cNvPr id="7" name="Subtitle 6"/>
          <p:cNvSpPr>
            <a:spLocks noGrp="1"/>
          </p:cNvSpPr>
          <p:nvPr>
            <p:ph type="subTitle" idx="1"/>
          </p:nvPr>
        </p:nvSpPr>
        <p:spPr>
          <a:xfrm>
            <a:off x="524933" y="1964268"/>
            <a:ext cx="9000067" cy="5029200"/>
          </a:xfrm>
        </p:spPr>
        <p:txBody>
          <a:bodyPr>
            <a:noAutofit/>
          </a:bodyPr>
          <a:lstStyle/>
          <a:p>
            <a:pPr algn="l"/>
            <a:r>
              <a:rPr lang="en-US" sz="2000" b="1" dirty="0" smtClean="0"/>
              <a:t>1. Urgent or Threatening Language: “Account will be closed in 24hrs!” “Urgent action required”</a:t>
            </a:r>
          </a:p>
          <a:p>
            <a:pPr algn="l"/>
            <a:r>
              <a:rPr lang="en-US" sz="2000" b="1" dirty="0" smtClean="0"/>
              <a:t>2. Sender Email Mismatch: Display name says </a:t>
            </a:r>
            <a:r>
              <a:rPr lang="en-US" sz="2000" b="1" dirty="0" err="1" smtClean="0"/>
              <a:t>CodeAlpha</a:t>
            </a:r>
            <a:r>
              <a:rPr lang="en-US" sz="2000" b="1" dirty="0" smtClean="0"/>
              <a:t> but email is </a:t>
            </a:r>
            <a:r>
              <a:rPr lang="en-US" sz="2000" b="1" i="1" dirty="0" smtClean="0">
                <a:hlinkClick r:id="rId2"/>
              </a:rPr>
              <a:t>codealpha.tech-support@x9f.biz</a:t>
            </a:r>
            <a:r>
              <a:rPr lang="en-US" sz="2000" b="1" i="1" dirty="0" smtClean="0"/>
              <a:t> </a:t>
            </a:r>
          </a:p>
          <a:p>
            <a:pPr algn="l"/>
            <a:r>
              <a:rPr lang="en-US" sz="2000" b="1" dirty="0" smtClean="0"/>
              <a:t>3. Generic Greeting: “Dear Customer” instead of your name</a:t>
            </a:r>
          </a:p>
          <a:p>
            <a:pPr algn="l"/>
            <a:r>
              <a:rPr lang="en-US" sz="2000" b="1" dirty="0" smtClean="0"/>
              <a:t>4. Bad Grammar/Spelling: “Kindly re-confirm your </a:t>
            </a:r>
            <a:r>
              <a:rPr lang="en-US" sz="2000" b="1" dirty="0" err="1" smtClean="0"/>
              <a:t>deatails</a:t>
            </a:r>
            <a:r>
              <a:rPr lang="en-US" sz="2000" b="1" dirty="0" smtClean="0"/>
              <a:t>”</a:t>
            </a:r>
          </a:p>
          <a:p>
            <a:pPr algn="l"/>
            <a:r>
              <a:rPr lang="en-US" sz="2000" b="1" dirty="0" smtClean="0"/>
              <a:t>5. Suspicious Links: Hover before clicking. Real: https://www.codealpha.tech    Fake: </a:t>
            </a:r>
            <a:r>
              <a:rPr lang="en-US" sz="2000" b="1" i="1" dirty="0" smtClean="0">
                <a:hlinkClick r:id="rId3"/>
              </a:rPr>
              <a:t>http://codealpha.tech-login.ru</a:t>
            </a:r>
            <a:r>
              <a:rPr lang="en-US" sz="2000" b="1" i="1" dirty="0" smtClean="0"/>
              <a:t> </a:t>
            </a:r>
          </a:p>
          <a:p>
            <a:pPr algn="l"/>
            <a:r>
              <a:rPr lang="en-US" sz="2000" b="1" dirty="0" smtClean="0"/>
              <a:t>6. Unexpected Attachments: .zip, .exe, Invoice.doc you didn’t ask for</a:t>
            </a:r>
          </a:p>
          <a:p>
            <a:pPr algn="l"/>
            <a:r>
              <a:rPr lang="en-US" sz="2000" b="1" dirty="0" smtClean="0"/>
              <a:t>7. Asking for Secrets: Real companies NEVER ask for passwords or OTP via email</a:t>
            </a:r>
            <a:endParaRPr lang="en-US" sz="2000" b="1" dirty="0"/>
          </a:p>
        </p:txBody>
      </p:sp>
    </p:spTree>
    <p:extLst>
      <p:ext uri="{BB962C8B-B14F-4D97-AF65-F5344CB8AC3E}">
        <p14:creationId xmlns:p14="http://schemas.microsoft.com/office/powerpoint/2010/main" val="349116126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70933" y="609600"/>
            <a:ext cx="9768417" cy="4880373"/>
          </a:xfrm>
        </p:spPr>
        <p:txBody>
          <a:bodyPr>
            <a:normAutofit/>
          </a:bodyPr>
          <a:lstStyle/>
          <a:p>
            <a:r>
              <a:rPr lang="en-US" sz="3600" b="1" dirty="0"/>
              <a:t>Real-World Example:  </a:t>
            </a:r>
          </a:p>
          <a:p>
            <a:pPr marL="0" indent="0">
              <a:buNone/>
            </a:pPr>
            <a:r>
              <a:rPr lang="en-US" sz="2800" b="1" dirty="0"/>
              <a:t>In 2020, Twitter employees got a phishing call pretending to be IT support. Attackers gained access and hijacked high-profile accounts like Elon Musk + Obama to run Bitcoin scams.</a:t>
            </a:r>
          </a:p>
        </p:txBody>
      </p:sp>
    </p:spTree>
    <p:extLst>
      <p:ext uri="{BB962C8B-B14F-4D97-AF65-F5344CB8AC3E}">
        <p14:creationId xmlns:p14="http://schemas.microsoft.com/office/powerpoint/2010/main" val="59037757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778933"/>
          </a:xfrm>
        </p:spPr>
        <p:txBody>
          <a:bodyPr/>
          <a:lstStyle/>
          <a:p>
            <a:r>
              <a:rPr lang="en-US" b="1" dirty="0" smtClean="0"/>
              <a:t>How to Spot Fake Websites</a:t>
            </a:r>
            <a:endParaRPr lang="en-US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77334" y="1117601"/>
            <a:ext cx="9362016" cy="5486400"/>
          </a:xfrm>
        </p:spPr>
        <p:txBody>
          <a:bodyPr>
            <a:noAutofit/>
          </a:bodyPr>
          <a:lstStyle/>
          <a:p>
            <a:pPr marL="0" indent="0">
              <a:buNone/>
            </a:pPr>
            <a:endParaRPr lang="en-US" sz="2000" b="1" dirty="0" smtClean="0"/>
          </a:p>
          <a:p>
            <a:r>
              <a:rPr lang="en-US" sz="2000" b="1" dirty="0" smtClean="0"/>
              <a:t>Fake site for www.codealpha.tech might look like:  </a:t>
            </a:r>
          </a:p>
          <a:p>
            <a:r>
              <a:rPr lang="en-US" sz="2000" b="1" dirty="0" smtClean="0"/>
              <a:t>1. Wrong URL: www.codeaIpha.tech with capital </a:t>
            </a:r>
            <a:r>
              <a:rPr lang="en-US" sz="2000" b="1" dirty="0" err="1" smtClean="0"/>
              <a:t>i</a:t>
            </a:r>
            <a:r>
              <a:rPr lang="en-US" sz="2000" b="1" dirty="0" smtClean="0"/>
              <a:t> instead of l, or </a:t>
            </a:r>
            <a:r>
              <a:rPr lang="en-US" sz="2000" b="1" i="1" dirty="0" smtClean="0">
                <a:hlinkClick r:id="rId2"/>
              </a:rPr>
              <a:t>www.codealpha.tk</a:t>
            </a:r>
            <a:r>
              <a:rPr lang="en-US" sz="2000" b="1" i="1" dirty="0" smtClean="0"/>
              <a:t>  </a:t>
            </a:r>
          </a:p>
          <a:p>
            <a:r>
              <a:rPr lang="en-US" sz="2000" b="1" dirty="0" smtClean="0"/>
              <a:t>2. No HTTPS Padlock: Browser shows “Not Secure”. Real sites use https:// + lock icon</a:t>
            </a:r>
          </a:p>
          <a:p>
            <a:r>
              <a:rPr lang="en-US" sz="2000" b="1" dirty="0" smtClean="0"/>
              <a:t>3. Poor Design: Logos stretched, spelling errors, broken links</a:t>
            </a:r>
          </a:p>
          <a:p>
            <a:r>
              <a:rPr lang="en-US" sz="2000" b="1" dirty="0" smtClean="0"/>
              <a:t>4. Too-Good-To-Be-True Offers: “Free </a:t>
            </a:r>
            <a:r>
              <a:rPr lang="en-US" sz="2000" b="1" dirty="0" err="1" smtClean="0"/>
              <a:t>CodeAlpha</a:t>
            </a:r>
            <a:r>
              <a:rPr lang="en-US" sz="2000" b="1" dirty="0" smtClean="0"/>
              <a:t> internship for everyone! Enter password to claim”</a:t>
            </a:r>
          </a:p>
          <a:p>
            <a:r>
              <a:rPr lang="en-US" sz="2000" b="1" dirty="0" smtClean="0"/>
              <a:t>5. Pop-ups Asking for Login: Real sites don’t ask you to re-login via pop-up</a:t>
            </a:r>
          </a:p>
          <a:p>
            <a:endParaRPr lang="en-US" sz="2000" b="1" dirty="0" smtClean="0"/>
          </a:p>
          <a:p>
            <a:r>
              <a:rPr lang="en-US" sz="2000" b="1" dirty="0" smtClean="0"/>
              <a:t>Test it yourself: Type </a:t>
            </a:r>
            <a:r>
              <a:rPr lang="en-US" sz="2000" b="1" i="1" dirty="0" smtClean="0"/>
              <a:t>www.codealpha.tech vs </a:t>
            </a:r>
            <a:r>
              <a:rPr lang="en-US" sz="2000" b="1" i="1" dirty="0" smtClean="0">
                <a:hlinkClick r:id="rId3"/>
              </a:rPr>
              <a:t>www.codealpha.tech.login.verify.com</a:t>
            </a:r>
            <a:r>
              <a:rPr lang="en-US" sz="2000" b="1" dirty="0" smtClean="0"/>
              <a:t>, second one is fake.</a:t>
            </a:r>
            <a:endParaRPr lang="en-US" sz="2000" b="1" dirty="0"/>
          </a:p>
        </p:txBody>
      </p:sp>
    </p:spTree>
    <p:extLst>
      <p:ext uri="{BB962C8B-B14F-4D97-AF65-F5344CB8AC3E}">
        <p14:creationId xmlns:p14="http://schemas.microsoft.com/office/powerpoint/2010/main" val="26566938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 </a:t>
            </a:r>
            <a:r>
              <a:rPr lang="en-US" b="1" dirty="0" smtClean="0"/>
              <a:t>Social Engineering Tactics Attackers Use</a:t>
            </a:r>
            <a:endParaRPr lang="en-US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77333" y="2160589"/>
            <a:ext cx="9651999" cy="4358744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400" b="1" dirty="0"/>
              <a:t>Attackers hack people, not just computers. Common tricks:</a:t>
            </a:r>
          </a:p>
          <a:p>
            <a:r>
              <a:rPr lang="en-US" sz="2400" b="1" dirty="0"/>
              <a:t>1. Authority: “This is your CEO. Transfer $5000 now.”</a:t>
            </a:r>
          </a:p>
          <a:p>
            <a:r>
              <a:rPr lang="en-US" sz="2400" b="1" dirty="0"/>
              <a:t>2. Urgency: “Reply in 10 minutes or lose access”</a:t>
            </a:r>
          </a:p>
          <a:p>
            <a:r>
              <a:rPr lang="en-US" sz="2400" b="1" dirty="0"/>
              <a:t>3. Fear: “We detected malware. Click to clean”</a:t>
            </a:r>
          </a:p>
          <a:p>
            <a:r>
              <a:rPr lang="en-US" sz="2400" b="1" dirty="0"/>
              <a:t>4. Curiosity: “Your salary sheet leaked” + attachment</a:t>
            </a:r>
          </a:p>
          <a:p>
            <a:r>
              <a:rPr lang="en-US" sz="2400" b="1" dirty="0"/>
              <a:t>5. Trust: “Hi, I’m from IT. What’s your password so I can fix your PC?”</a:t>
            </a:r>
          </a:p>
          <a:p>
            <a:r>
              <a:rPr lang="en-US" sz="2400" b="1" dirty="0"/>
              <a:t>6. Scarcity: “Only 3 slots left for </a:t>
            </a:r>
            <a:r>
              <a:rPr lang="en-US" sz="2400" b="1" dirty="0" err="1"/>
              <a:t>CodeAlpha</a:t>
            </a:r>
            <a:r>
              <a:rPr lang="en-US" sz="2400" b="1" dirty="0"/>
              <a:t> training</a:t>
            </a:r>
            <a:r>
              <a:rPr lang="en-US" dirty="0"/>
              <a:t>”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0592779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smtClean="0"/>
              <a:t>Best Practices - 8 Rules to Stay Safe</a:t>
            </a:r>
            <a:endParaRPr lang="en-US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77333" y="1134533"/>
            <a:ext cx="9397999" cy="4961467"/>
          </a:xfrm>
        </p:spPr>
        <p:txBody>
          <a:bodyPr>
            <a:normAutofit/>
          </a:bodyPr>
          <a:lstStyle/>
          <a:p>
            <a:pPr marL="0" indent="0">
              <a:buNone/>
            </a:pPr>
            <a:endParaRPr lang="en-US" b="1" dirty="0" smtClean="0"/>
          </a:p>
          <a:p>
            <a:r>
              <a:rPr lang="en-US" b="1" dirty="0" smtClean="0"/>
              <a:t>1. Think Before You Click: Hover on links. If unsure, go to site directly via Google.</a:t>
            </a:r>
          </a:p>
          <a:p>
            <a:r>
              <a:rPr lang="en-US" b="1" dirty="0" smtClean="0"/>
              <a:t>2. Verify the Sender: Call the person/company using a known number, not the one in email.</a:t>
            </a:r>
          </a:p>
          <a:p>
            <a:r>
              <a:rPr lang="en-US" b="1" dirty="0" smtClean="0"/>
              <a:t>3. Use Multi-Factor Authentication (MFA): Even if password leaks, attacker can’t log in.</a:t>
            </a:r>
          </a:p>
          <a:p>
            <a:r>
              <a:rPr lang="en-US" b="1" dirty="0" smtClean="0"/>
              <a:t>4. Check for HTTPS: Padlock icon before entering passwords.</a:t>
            </a:r>
          </a:p>
          <a:p>
            <a:r>
              <a:rPr lang="en-US" b="1" dirty="0" smtClean="0"/>
              <a:t>5. ever Share OTP/Passwords: Not even with “IT support”.</a:t>
            </a:r>
          </a:p>
          <a:p>
            <a:r>
              <a:rPr lang="en-US" b="1" dirty="0" smtClean="0"/>
              <a:t>6. Keep Software Updated: Browser + OS updates patch phishing loopholes.</a:t>
            </a:r>
          </a:p>
          <a:p>
            <a:r>
              <a:rPr lang="en-US" b="1" dirty="0" smtClean="0"/>
              <a:t>7. Report Phishing: Forward to reportphishing@apwg.org or your IT team.</a:t>
            </a:r>
          </a:p>
          <a:p>
            <a:r>
              <a:rPr lang="en-US" b="1" dirty="0" smtClean="0"/>
              <a:t>8. Use a Password Manager: It won’t auto-fill on fake sites like </a:t>
            </a:r>
            <a:r>
              <a:rPr lang="en-US" b="1" dirty="0" err="1" smtClean="0"/>
              <a:t>codeaIpha.tech</a:t>
            </a:r>
            <a:r>
              <a:rPr lang="en-US" b="1" dirty="0" smtClean="0"/>
              <a:t>.</a:t>
            </a:r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val="134497350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72534" y="609600"/>
            <a:ext cx="8901468" cy="1320800"/>
          </a:xfrm>
        </p:spPr>
        <p:txBody>
          <a:bodyPr/>
          <a:lstStyle/>
          <a:p>
            <a:r>
              <a:rPr lang="en-US" b="1" dirty="0" smtClean="0"/>
              <a:t> Interactive Quiz - Spot the Phish </a:t>
            </a:r>
            <a:endParaRPr lang="en-US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72534" y="1930400"/>
            <a:ext cx="10329334" cy="3880773"/>
          </a:xfrm>
        </p:spPr>
        <p:txBody>
          <a:bodyPr>
            <a:normAutofit/>
          </a:bodyPr>
          <a:lstStyle/>
          <a:p>
            <a:pPr marL="0" indent="0">
              <a:buNone/>
            </a:pPr>
            <a:endParaRPr lang="en-US" b="1" dirty="0"/>
          </a:p>
          <a:p>
            <a:r>
              <a:rPr lang="en-US" b="1" dirty="0"/>
              <a:t>Q1: You get this email. Phish or legit?</a:t>
            </a:r>
          </a:p>
          <a:p>
            <a:r>
              <a:rPr lang="en-US" b="1" dirty="0"/>
              <a:t>From: </a:t>
            </a:r>
            <a:r>
              <a:rPr lang="en-US" b="1" dirty="0" err="1"/>
              <a:t>CodeAlpha</a:t>
            </a:r>
            <a:r>
              <a:rPr lang="en-US" b="1" dirty="0"/>
              <a:t> HR &lt;</a:t>
            </a:r>
            <a:r>
              <a:rPr lang="en-US" b="1" dirty="0" err="1"/>
              <a:t>hr@codealphaa.tech</a:t>
            </a:r>
            <a:r>
              <a:rPr lang="en-US" b="1" dirty="0"/>
              <a:t>&gt;</a:t>
            </a:r>
          </a:p>
          <a:p>
            <a:r>
              <a:rPr lang="en-US" b="1" dirty="0"/>
              <a:t>Subject: URGENT: Update Details  </a:t>
            </a:r>
          </a:p>
          <a:p>
            <a:r>
              <a:rPr lang="en-US" b="1" dirty="0"/>
              <a:t>Dear User, your internship will be cancelled. Click http://codealpha.tech-update.com to confirm NOW.</a:t>
            </a:r>
          </a:p>
          <a:p>
            <a:endParaRPr lang="en-US" b="1" dirty="0"/>
          </a:p>
          <a:p>
            <a:r>
              <a:rPr lang="en-US" b="1" dirty="0"/>
              <a:t>Answer: PHISH - Wrong domain </a:t>
            </a:r>
            <a:r>
              <a:rPr lang="en-US" b="1" dirty="0" err="1"/>
              <a:t>codealphaa.tech</a:t>
            </a:r>
            <a:r>
              <a:rPr lang="en-US" b="1" dirty="0"/>
              <a:t>, urgency, suspicious link, generic greeting.</a:t>
            </a:r>
          </a:p>
        </p:txBody>
      </p:sp>
    </p:spTree>
    <p:extLst>
      <p:ext uri="{BB962C8B-B14F-4D97-AF65-F5344CB8AC3E}">
        <p14:creationId xmlns:p14="http://schemas.microsoft.com/office/powerpoint/2010/main" val="424652698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08000" y="270932"/>
            <a:ext cx="8921750" cy="6587067"/>
          </a:xfrm>
        </p:spPr>
        <p:txBody>
          <a:bodyPr>
            <a:noAutofit/>
          </a:bodyPr>
          <a:lstStyle/>
          <a:p>
            <a:r>
              <a:rPr lang="en-US" sz="2400" b="1" dirty="0"/>
              <a:t>Q2: Which website is fake?  </a:t>
            </a:r>
          </a:p>
          <a:p>
            <a:pPr marL="0" indent="0">
              <a:buNone/>
            </a:pPr>
            <a:r>
              <a:rPr lang="en-US" sz="2400" b="1" dirty="0"/>
              <a:t>A. https://www.codealpha.tech/login  </a:t>
            </a:r>
          </a:p>
          <a:p>
            <a:pPr marL="0" indent="0">
              <a:buNone/>
            </a:pPr>
            <a:r>
              <a:rPr lang="en-US" sz="2400" b="1" dirty="0"/>
              <a:t>B. https://codealpha.tech.security-check.com/login  </a:t>
            </a:r>
          </a:p>
          <a:p>
            <a:endParaRPr lang="en-US" sz="2400" b="1" dirty="0"/>
          </a:p>
          <a:p>
            <a:r>
              <a:rPr lang="en-US" sz="2400" b="1" dirty="0"/>
              <a:t>Answer: B - Real domain is </a:t>
            </a:r>
            <a:r>
              <a:rPr lang="en-US" sz="2400" b="1" dirty="0" err="1"/>
              <a:t>codealpha.tech</a:t>
            </a:r>
            <a:r>
              <a:rPr lang="en-US" sz="2400" b="1" dirty="0"/>
              <a:t>. Anything before /login that adds extra words is fake.</a:t>
            </a:r>
          </a:p>
          <a:p>
            <a:endParaRPr lang="en-US" sz="2400" b="1" dirty="0"/>
          </a:p>
          <a:p>
            <a:r>
              <a:rPr lang="en-US" sz="2400" b="1" dirty="0"/>
              <a:t>Q3: “IT Support” calls asking for your password to install updates. You should:  </a:t>
            </a:r>
          </a:p>
          <a:p>
            <a:pPr marL="0" indent="0">
              <a:buNone/>
            </a:pPr>
            <a:r>
              <a:rPr lang="en-US" sz="2400" b="1" dirty="0"/>
              <a:t>A. Give it, they’re IT  </a:t>
            </a:r>
          </a:p>
          <a:p>
            <a:pPr marL="0" indent="0">
              <a:buNone/>
            </a:pPr>
            <a:r>
              <a:rPr lang="en-US" sz="2400" b="1" dirty="0"/>
              <a:t>B. Refuse + report  </a:t>
            </a:r>
          </a:p>
          <a:p>
            <a:endParaRPr lang="en-US" sz="2400" b="1" dirty="0"/>
          </a:p>
          <a:p>
            <a:r>
              <a:rPr lang="en-US" sz="2400" b="1" dirty="0"/>
              <a:t>Answer: B - Real IT never needs your password.</a:t>
            </a:r>
          </a:p>
        </p:txBody>
      </p:sp>
    </p:spTree>
    <p:extLst>
      <p:ext uri="{BB962C8B-B14F-4D97-AF65-F5344CB8AC3E}">
        <p14:creationId xmlns:p14="http://schemas.microsoft.com/office/powerpoint/2010/main" val="222912469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72533" y="609600"/>
            <a:ext cx="8901469" cy="1320800"/>
          </a:xfrm>
        </p:spPr>
        <p:txBody>
          <a:bodyPr/>
          <a:lstStyle/>
          <a:p>
            <a:r>
              <a:rPr lang="en-US" b="1" dirty="0" smtClean="0"/>
              <a:t>What To Do If You Clicked</a:t>
            </a:r>
            <a:endParaRPr lang="en-US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72533" y="1527122"/>
            <a:ext cx="9666817" cy="3231145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400" b="1" dirty="0"/>
              <a:t>1. Disconnect from internet/</a:t>
            </a:r>
            <a:r>
              <a:rPr lang="en-US" sz="2400" b="1" dirty="0" err="1"/>
              <a:t>WiFi</a:t>
            </a:r>
            <a:r>
              <a:rPr lang="en-US" sz="2400" b="1" dirty="0"/>
              <a:t> immediately</a:t>
            </a:r>
          </a:p>
          <a:p>
            <a:pPr marL="0" indent="0">
              <a:buNone/>
            </a:pPr>
            <a:r>
              <a:rPr lang="en-US" sz="2400" b="1" dirty="0"/>
              <a:t>2. Change passwords from a clean device</a:t>
            </a:r>
          </a:p>
          <a:p>
            <a:pPr marL="0" indent="0">
              <a:buNone/>
            </a:pPr>
            <a:r>
              <a:rPr lang="en-US" sz="2400" b="1" dirty="0"/>
              <a:t>3. Enable MFA on all accounts</a:t>
            </a:r>
          </a:p>
          <a:p>
            <a:pPr marL="0" indent="0">
              <a:buNone/>
            </a:pPr>
            <a:r>
              <a:rPr lang="en-US" sz="2400" b="1" dirty="0"/>
              <a:t>4. Scan for malware using Windows Defender/Kali </a:t>
            </a:r>
            <a:r>
              <a:rPr lang="en-US" sz="2400" b="1" dirty="0" err="1"/>
              <a:t>ClamAV</a:t>
            </a:r>
            <a:endParaRPr lang="en-US" sz="2400" b="1" dirty="0"/>
          </a:p>
          <a:p>
            <a:pPr marL="0" indent="0">
              <a:buNone/>
            </a:pPr>
            <a:r>
              <a:rPr lang="en-US" sz="2400" b="1" dirty="0"/>
              <a:t>5. Report to your bank + IT team + cybercrime.gov.ng if in Nigeria</a:t>
            </a:r>
          </a:p>
          <a:p>
            <a:endParaRPr lang="en-US" sz="2400" b="1" dirty="0"/>
          </a:p>
        </p:txBody>
      </p:sp>
    </p:spTree>
    <p:extLst>
      <p:ext uri="{BB962C8B-B14F-4D97-AF65-F5344CB8AC3E}">
        <p14:creationId xmlns:p14="http://schemas.microsoft.com/office/powerpoint/2010/main" val="418790199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smtClean="0"/>
              <a:t>Key Takeaway</a:t>
            </a:r>
            <a:endParaRPr lang="en-US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sz="2800" b="1" dirty="0"/>
              <a:t>Stop. Think. Verify.  </a:t>
            </a:r>
          </a:p>
          <a:p>
            <a:r>
              <a:rPr lang="en-US" sz="2800" b="1" dirty="0"/>
              <a:t>Attackers rely on speed and panic. Slowing down by 10 seconds beats 90% of phishing.</a:t>
            </a:r>
          </a:p>
          <a:p>
            <a:endParaRPr lang="en-US" sz="2800" b="1" dirty="0"/>
          </a:p>
        </p:txBody>
      </p:sp>
    </p:spTree>
    <p:extLst>
      <p:ext uri="{BB962C8B-B14F-4D97-AF65-F5344CB8AC3E}">
        <p14:creationId xmlns:p14="http://schemas.microsoft.com/office/powerpoint/2010/main" val="168153221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152650" y="1040131"/>
            <a:ext cx="7886700" cy="4449842"/>
          </a:xfrm>
        </p:spPr>
        <p:txBody>
          <a:bodyPr>
            <a:normAutofit fontScale="85000" lnSpcReduction="20000"/>
          </a:bodyPr>
          <a:lstStyle/>
          <a:p>
            <a:pPr marL="0" indent="0">
              <a:buNone/>
            </a:pPr>
            <a:r>
              <a:rPr lang="en-US" sz="4500" dirty="0">
                <a:latin typeface="Baskerville Old Face" panose="02020602080505020303" pitchFamily="18" charset="0"/>
              </a:rPr>
              <a:t>THANK YOU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 smtClean="0"/>
          </a:p>
          <a:p>
            <a:pPr marL="0" indent="0">
              <a:buNone/>
            </a:pPr>
            <a:endParaRPr lang="en-US" dirty="0"/>
          </a:p>
          <a:p>
            <a:pPr marL="0" indent="0" algn="ctr">
              <a:buNone/>
            </a:pPr>
            <a:r>
              <a:rPr lang="en-US" sz="5800" b="1" dirty="0">
                <a:latin typeface="Microsoft Uighur" panose="02000000000000000000" pitchFamily="2" charset="-78"/>
                <a:ea typeface="Segoe UI Symbol" panose="020B0502040204020203" pitchFamily="34" charset="0"/>
                <a:cs typeface="Microsoft Uighur" panose="02000000000000000000" pitchFamily="2" charset="-78"/>
              </a:rPr>
              <a:t>THE END 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 smtClean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 smtClean="0"/>
          </a:p>
          <a:p>
            <a:pPr marL="0" indent="0">
              <a:buNone/>
            </a:pPr>
            <a:endParaRPr lang="en-US" dirty="0">
              <a:latin typeface="Baskerville Old Face" panose="02020602080505020303" pitchFamily="18" charset="0"/>
            </a:endParaRPr>
          </a:p>
          <a:p>
            <a:pPr marL="0" indent="0" algn="r">
              <a:buNone/>
            </a:pPr>
            <a:r>
              <a:rPr lang="en-US" sz="2600" b="1" dirty="0" smtClean="0">
                <a:latin typeface="Baskerville Old Face" panose="02020602080505020303" pitchFamily="18" charset="0"/>
              </a:rPr>
              <a:t>BY JOSHUA PROMISE UMOREN</a:t>
            </a:r>
            <a:endParaRPr lang="en-US" sz="2600" b="1" dirty="0">
              <a:latin typeface="Baskerville Old Face" panose="02020602080505020303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4532471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Facet">
  <a:themeElements>
    <a:clrScheme name="Facet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90C226"/>
      </a:accent1>
      <a:accent2>
        <a:srgbClr val="54A021"/>
      </a:accent2>
      <a:accent3>
        <a:srgbClr val="E6B91E"/>
      </a:accent3>
      <a:accent4>
        <a:srgbClr val="E76618"/>
      </a:accent4>
      <a:accent5>
        <a:srgbClr val="C42F1A"/>
      </a:accent5>
      <a:accent6>
        <a:srgbClr val="918655"/>
      </a:accent6>
      <a:hlink>
        <a:srgbClr val="99CA3C"/>
      </a:hlink>
      <a:folHlink>
        <a:srgbClr val="B9D181"/>
      </a:folHlink>
    </a:clrScheme>
    <a:fontScheme name="Facet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ce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CFBC31BA-B70F-4F30-BCAA-4F3011E16C4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TotalTime>1641</TotalTime>
  <Words>801</Words>
  <Application>Microsoft Office PowerPoint</Application>
  <PresentationFormat>Widescreen</PresentationFormat>
  <Paragraphs>85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9" baseType="lpstr">
      <vt:lpstr>Arial</vt:lpstr>
      <vt:lpstr>Baskerville Old Face</vt:lpstr>
      <vt:lpstr>Microsoft Uighur</vt:lpstr>
      <vt:lpstr>Segoe UI Symbol</vt:lpstr>
      <vt:lpstr>Trebuchet MS</vt:lpstr>
      <vt:lpstr>Wingdings 3</vt:lpstr>
      <vt:lpstr>Facet</vt:lpstr>
      <vt:lpstr>Phishing Awareness Training</vt:lpstr>
      <vt:lpstr>What is Phishing?</vt:lpstr>
      <vt:lpstr>How to Recognize Phishing Emails - 7 Red Flags</vt:lpstr>
      <vt:lpstr>PowerPoint Presentation</vt:lpstr>
      <vt:lpstr>How to Spot Fake Websites</vt:lpstr>
      <vt:lpstr> Social Engineering Tactics Attackers Use</vt:lpstr>
      <vt:lpstr>Best Practices - 8 Rules to Stay Safe</vt:lpstr>
      <vt:lpstr> Interactive Quiz - Spot the Phish </vt:lpstr>
      <vt:lpstr>PowerPoint Presentation</vt:lpstr>
      <vt:lpstr>What To Do If You Clicked</vt:lpstr>
      <vt:lpstr>Key Takeaway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Phishing Awareness Training Module</dc:title>
  <dc:creator>valantine</dc:creator>
  <cp:lastModifiedBy>valantine</cp:lastModifiedBy>
  <cp:revision>10</cp:revision>
  <dcterms:created xsi:type="dcterms:W3CDTF">2026-04-30T11:00:03Z</dcterms:created>
  <dcterms:modified xsi:type="dcterms:W3CDTF">2026-05-01T14:21:22Z</dcterms:modified>
</cp:coreProperties>
</file>